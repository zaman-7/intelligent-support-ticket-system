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66" r:id="rId5"/>
    <p:sldId id="267" r:id="rId6"/>
    <p:sldId id="269" r:id="rId7"/>
    <p:sldId id="272" r:id="rId8"/>
    <p:sldId id="273" r:id="rId9"/>
    <p:sldId id="274" r:id="rId10"/>
    <p:sldId id="275" r:id="rId11"/>
    <p:sldId id="277" r:id="rId12"/>
    <p:sldId id="278" r:id="rId13"/>
    <p:sldId id="279" r:id="rId14"/>
    <p:sldId id="265" r:id="rId15"/>
    <p:sldId id="268" r:id="rId16"/>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25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08"/>
    <p:restoredTop sz="94610"/>
  </p:normalViewPr>
  <p:slideViewPr>
    <p:cSldViewPr snapToGrid="0" snapToObjects="1">
      <p:cViewPr varScale="1">
        <p:scale>
          <a:sx n="101" d="100"/>
          <a:sy n="101" d="100"/>
        </p:scale>
        <p:origin x="23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740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054429"/>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FFFFFF"/>
                </a:solidFill>
                <a:latin typeface="Times New Roman" panose="02020603050405020304" pitchFamily="18" charset="0"/>
                <a:ea typeface="Inter Bold" pitchFamily="34" charset="-122"/>
                <a:cs typeface="Times New Roman" panose="02020603050405020304" pitchFamily="18" charset="0"/>
              </a:rPr>
              <a:t>Intelligent Support Ticket System</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93790" y="4812149"/>
            <a:ext cx="7556421" cy="362903"/>
          </a:xfrm>
          <a:prstGeom prst="rect">
            <a:avLst/>
          </a:prstGeom>
          <a:noFill/>
          <a:ln/>
        </p:spPr>
        <p:txBody>
          <a:bodyPr wrap="none" lIns="0" tIns="0" rIns="0" bIns="0" rtlCol="0" anchor="t"/>
          <a:lstStyle/>
          <a:p>
            <a:pPr marL="0" indent="0" algn="l">
              <a:lnSpc>
                <a:spcPts val="2850"/>
              </a:lnSpc>
              <a:buNone/>
            </a:pPr>
            <a:r>
              <a:rPr lang="en-US" dirty="0">
                <a:solidFill>
                  <a:srgbClr val="E5E0DF"/>
                </a:solidFill>
                <a:latin typeface="Times New Roman" panose="02020603050405020304" pitchFamily="18" charset="0"/>
                <a:ea typeface="Inter" pitchFamily="34" charset="-122"/>
                <a:cs typeface="Times New Roman" panose="02020603050405020304" pitchFamily="18" charset="0"/>
              </a:rPr>
              <a:t>Revolutionizing IT Support with AI-Powered Triage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9856" y="589240"/>
            <a:ext cx="9245798" cy="669488"/>
          </a:xfrm>
          <a:prstGeom prst="rect">
            <a:avLst/>
          </a:prstGeom>
          <a:noFill/>
          <a:ln/>
        </p:spPr>
        <p:txBody>
          <a:bodyPr wrap="none" lIns="0" tIns="0" rIns="0" bIns="0" rtlCol="0" anchor="t"/>
          <a:lstStyle/>
          <a:p>
            <a:pPr marL="0" indent="0" algn="l">
              <a:lnSpc>
                <a:spcPts val="5250"/>
              </a:lnSpc>
              <a:buNone/>
            </a:pPr>
            <a:r>
              <a:rPr lang="en-US" sz="4200" b="1" dirty="0">
                <a:solidFill>
                  <a:srgbClr val="FFFFFF"/>
                </a:solidFill>
                <a:latin typeface="Times New Roman" panose="02020603050405020304" pitchFamily="18" charset="0"/>
                <a:ea typeface="Inter Bold" pitchFamily="34" charset="-122"/>
                <a:cs typeface="Times New Roman" panose="02020603050405020304" pitchFamily="18" charset="0"/>
              </a:rPr>
              <a:t>Introduction: The Triage Bottleneck</a:t>
            </a:r>
            <a:endParaRPr lang="en-US" sz="4200" dirty="0">
              <a:latin typeface="Times New Roman" panose="02020603050405020304" pitchFamily="18" charset="0"/>
              <a:cs typeface="Times New Roman" panose="02020603050405020304" pitchFamily="18" charset="0"/>
            </a:endParaRPr>
          </a:p>
        </p:txBody>
      </p:sp>
      <p:sp>
        <p:nvSpPr>
          <p:cNvPr id="3" name="Text 1"/>
          <p:cNvSpPr/>
          <p:nvPr/>
        </p:nvSpPr>
        <p:spPr>
          <a:xfrm>
            <a:off x="749856" y="3035975"/>
            <a:ext cx="8351996" cy="1666875"/>
          </a:xfrm>
          <a:prstGeom prst="rect">
            <a:avLst/>
          </a:prstGeom>
          <a:noFill/>
          <a:ln/>
        </p:spPr>
        <p:txBody>
          <a:bodyPr wrap="square" lIns="0" tIns="0" rIns="0" bIns="0" rtlCol="0" anchor="t"/>
          <a:lstStyle/>
          <a:p>
            <a:pPr marL="0" indent="0" algn="l">
              <a:lnSpc>
                <a:spcPts val="2600"/>
              </a:lnSpc>
              <a:buNone/>
            </a:pPr>
            <a:r>
              <a:rPr lang="en-US" sz="2000" dirty="0">
                <a:solidFill>
                  <a:srgbClr val="E5E0DF"/>
                </a:solidFill>
                <a:latin typeface="Times New Roman" panose="02020603050405020304" pitchFamily="18" charset="0"/>
                <a:ea typeface="Inter" pitchFamily="34" charset="-122"/>
                <a:cs typeface="Times New Roman" panose="02020603050405020304" pitchFamily="18" charset="0"/>
              </a:rPr>
              <a:t>Traditional IT help desks face a critical challenge: high volumes of unstructured support tickets. Agents spend valuable time manually reading, classifying, and sorting these tickets before they can even begin problem-solving. This manual triage process creates a significant bottleneck, delaying resolutions and impacting efficiency.</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749856" y="4885015"/>
            <a:ext cx="8351996" cy="1333500"/>
          </a:xfrm>
          <a:prstGeom prst="rect">
            <a:avLst/>
          </a:prstGeom>
          <a:noFill/>
          <a:ln/>
        </p:spPr>
        <p:txBody>
          <a:bodyPr wrap="square" lIns="0" tIns="0" rIns="0" bIns="0" rtlCol="0" anchor="t"/>
          <a:lstStyle/>
          <a:p>
            <a:pPr marL="0" indent="0" algn="l">
              <a:lnSpc>
                <a:spcPts val="2600"/>
              </a:lnSpc>
              <a:buNone/>
            </a:pPr>
            <a:r>
              <a:rPr lang="en-US" sz="2000" dirty="0">
                <a:solidFill>
                  <a:srgbClr val="E5E0DF"/>
                </a:solidFill>
                <a:latin typeface="Times New Roman" panose="02020603050405020304" pitchFamily="18" charset="0"/>
                <a:ea typeface="Inter" pitchFamily="34" charset="-122"/>
                <a:cs typeface="Times New Roman" panose="02020603050405020304" pitchFamily="18" charset="0"/>
              </a:rPr>
              <a:t>Our project introduces an intelligent solution: a system that integrates the cutting-edge Google Gemini API to automate initial ticket analysis. This transforms raw data into organized, actionable information, empowering support staff to focus on what they do best: solving problems.</a:t>
            </a:r>
            <a:endParaRPr lang="en-US" sz="200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9632156" y="1789986"/>
            <a:ext cx="4255889" cy="56745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7663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FFFFF"/>
                </a:solidFill>
                <a:latin typeface="Times New Roman" panose="02020603050405020304" pitchFamily="18" charset="0"/>
                <a:ea typeface="Inter Bold" pitchFamily="34" charset="-122"/>
                <a:cs typeface="Times New Roman" panose="02020603050405020304" pitchFamily="18" charset="0"/>
              </a:rPr>
              <a:t>Project Objectives</a:t>
            </a:r>
            <a:endParaRPr lang="en-US" sz="4450" dirty="0">
              <a:latin typeface="Times New Roman" panose="02020603050405020304" pitchFamily="18" charset="0"/>
              <a:cs typeface="Times New Roman" panose="02020603050405020304" pitchFamily="18" charset="0"/>
            </a:endParaRPr>
          </a:p>
        </p:txBody>
      </p:sp>
      <p:sp>
        <p:nvSpPr>
          <p:cNvPr id="3" name="Shape 1"/>
          <p:cNvSpPr/>
          <p:nvPr/>
        </p:nvSpPr>
        <p:spPr>
          <a:xfrm>
            <a:off x="793790" y="2179201"/>
            <a:ext cx="6407944" cy="2403396"/>
          </a:xfrm>
          <a:prstGeom prst="roundRect">
            <a:avLst>
              <a:gd name="adj" fmla="val 6087"/>
            </a:avLst>
          </a:prstGeom>
          <a:solidFill>
            <a:srgbClr val="272525"/>
          </a:solidFill>
          <a:ln/>
        </p:spPr>
        <p:txBody>
          <a:bodyPr/>
          <a:lstStyle/>
          <a:p>
            <a:endParaRPr lang="en-US"/>
          </a:p>
        </p:txBody>
      </p:sp>
      <p:sp>
        <p:nvSpPr>
          <p:cNvPr id="4" name="Shape 2"/>
          <p:cNvSpPr/>
          <p:nvPr/>
        </p:nvSpPr>
        <p:spPr>
          <a:xfrm>
            <a:off x="793790" y="2148721"/>
            <a:ext cx="6407944" cy="121920"/>
          </a:xfrm>
          <a:prstGeom prst="roundRect">
            <a:avLst>
              <a:gd name="adj" fmla="val 78139"/>
            </a:avLst>
          </a:prstGeom>
          <a:solidFill>
            <a:srgbClr val="2B0AFF"/>
          </a:solidFill>
          <a:ln/>
        </p:spPr>
        <p:txBody>
          <a:bodyPr/>
          <a:lstStyle/>
          <a:p>
            <a:endParaRPr lang="en-US"/>
          </a:p>
        </p:txBody>
      </p:sp>
      <p:sp>
        <p:nvSpPr>
          <p:cNvPr id="5" name="Shape 3"/>
          <p:cNvSpPr/>
          <p:nvPr/>
        </p:nvSpPr>
        <p:spPr>
          <a:xfrm>
            <a:off x="3657540" y="1839039"/>
            <a:ext cx="680442" cy="680442"/>
          </a:xfrm>
          <a:prstGeom prst="roundRect">
            <a:avLst>
              <a:gd name="adj" fmla="val 134383"/>
            </a:avLst>
          </a:prstGeom>
          <a:solidFill>
            <a:srgbClr val="2B0AFF"/>
          </a:solidFill>
          <a:ln/>
        </p:spPr>
        <p:txBody>
          <a:bodyPr/>
          <a:lstStyle/>
          <a:p>
            <a:endParaRPr lang="en-US"/>
          </a:p>
        </p:txBody>
      </p:sp>
      <p:sp>
        <p:nvSpPr>
          <p:cNvPr id="6" name="Text 4"/>
          <p:cNvSpPr/>
          <p:nvPr/>
        </p:nvSpPr>
        <p:spPr>
          <a:xfrm>
            <a:off x="3861614" y="2009180"/>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1</a:t>
            </a:r>
            <a:endParaRPr lang="en-US" sz="2100" dirty="0"/>
          </a:p>
        </p:txBody>
      </p:sp>
      <p:sp>
        <p:nvSpPr>
          <p:cNvPr id="7" name="Text 5"/>
          <p:cNvSpPr/>
          <p:nvPr/>
        </p:nvSpPr>
        <p:spPr>
          <a:xfrm>
            <a:off x="1051084" y="2746177"/>
            <a:ext cx="3090743" cy="354330"/>
          </a:xfrm>
          <a:prstGeom prst="rect">
            <a:avLst/>
          </a:prstGeom>
          <a:noFill/>
          <a:ln/>
        </p:spPr>
        <p:txBody>
          <a:bodyPr wrap="none" lIns="0" tIns="0" rIns="0" bIns="0" rtlCol="0" anchor="t"/>
          <a:lstStyle/>
          <a:p>
            <a:pPr marL="0" indent="0" algn="l">
              <a:lnSpc>
                <a:spcPts val="2750"/>
              </a:lnSpc>
              <a:buNone/>
            </a:pPr>
            <a:r>
              <a:rPr lang="en-US" sz="2000" b="1" dirty="0">
                <a:solidFill>
                  <a:srgbClr val="E5E0DF"/>
                </a:solidFill>
                <a:latin typeface="Times New Roman" panose="02020603050405020304" pitchFamily="18" charset="0"/>
                <a:ea typeface="Inter Bold" pitchFamily="34" charset="-122"/>
                <a:cs typeface="Times New Roman" panose="02020603050405020304" pitchFamily="18" charset="0"/>
              </a:rPr>
              <a:t>Gemini API </a:t>
            </a:r>
            <a:r>
              <a:rPr lang="en-US" sz="2400" b="1" dirty="0">
                <a:solidFill>
                  <a:srgbClr val="E5E0DF"/>
                </a:solidFill>
                <a:latin typeface="Times New Roman" panose="02020603050405020304" pitchFamily="18" charset="0"/>
                <a:ea typeface="Inter Bold" pitchFamily="34" charset="-122"/>
                <a:cs typeface="Times New Roman" panose="02020603050405020304" pitchFamily="18" charset="0"/>
              </a:rPr>
              <a:t>Integration</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051084" y="3236595"/>
            <a:ext cx="5893356" cy="1088708"/>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Times New Roman" panose="02020603050405020304" pitchFamily="18" charset="0"/>
                <a:ea typeface="Inter" pitchFamily="34" charset="-122"/>
                <a:cs typeface="Times New Roman" panose="02020603050405020304" pitchFamily="18" charset="0"/>
              </a:rPr>
              <a:t>Integrate the Google Gemini API to accurately analyze and categorize incoming ticket text in real-time, leveraging its advanced NLP capabilities.</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7428548" y="2179201"/>
            <a:ext cx="6408063" cy="2403396"/>
          </a:xfrm>
          <a:prstGeom prst="roundRect">
            <a:avLst>
              <a:gd name="adj" fmla="val 6087"/>
            </a:avLst>
          </a:prstGeom>
          <a:solidFill>
            <a:srgbClr val="272525"/>
          </a:solidFill>
          <a:ln/>
        </p:spPr>
        <p:txBody>
          <a:bodyPr/>
          <a:lstStyle/>
          <a:p>
            <a:endParaRPr lang="en-US"/>
          </a:p>
        </p:txBody>
      </p:sp>
      <p:sp>
        <p:nvSpPr>
          <p:cNvPr id="10" name="Shape 8"/>
          <p:cNvSpPr/>
          <p:nvPr/>
        </p:nvSpPr>
        <p:spPr>
          <a:xfrm>
            <a:off x="7428548" y="2148721"/>
            <a:ext cx="6408063" cy="121920"/>
          </a:xfrm>
          <a:prstGeom prst="roundRect">
            <a:avLst>
              <a:gd name="adj" fmla="val 78139"/>
            </a:avLst>
          </a:prstGeom>
          <a:solidFill>
            <a:srgbClr val="2B0AFF"/>
          </a:solidFill>
          <a:ln/>
        </p:spPr>
        <p:txBody>
          <a:bodyPr/>
          <a:lstStyle/>
          <a:p>
            <a:endParaRPr lang="en-US"/>
          </a:p>
        </p:txBody>
      </p:sp>
      <p:sp>
        <p:nvSpPr>
          <p:cNvPr id="11" name="Shape 9"/>
          <p:cNvSpPr/>
          <p:nvPr/>
        </p:nvSpPr>
        <p:spPr>
          <a:xfrm>
            <a:off x="10292298" y="1839039"/>
            <a:ext cx="680442" cy="680442"/>
          </a:xfrm>
          <a:prstGeom prst="roundRect">
            <a:avLst>
              <a:gd name="adj" fmla="val 134383"/>
            </a:avLst>
          </a:prstGeom>
          <a:solidFill>
            <a:srgbClr val="2B0AFF"/>
          </a:solidFill>
          <a:ln/>
        </p:spPr>
        <p:txBody>
          <a:bodyPr/>
          <a:lstStyle/>
          <a:p>
            <a:endParaRPr lang="en-US"/>
          </a:p>
        </p:txBody>
      </p:sp>
      <p:sp>
        <p:nvSpPr>
          <p:cNvPr id="12" name="Text 10"/>
          <p:cNvSpPr/>
          <p:nvPr/>
        </p:nvSpPr>
        <p:spPr>
          <a:xfrm>
            <a:off x="10496371" y="2009180"/>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2</a:t>
            </a:r>
            <a:endParaRPr lang="en-US" sz="2100" dirty="0"/>
          </a:p>
        </p:txBody>
      </p:sp>
      <p:sp>
        <p:nvSpPr>
          <p:cNvPr id="13" name="Text 11"/>
          <p:cNvSpPr/>
          <p:nvPr/>
        </p:nvSpPr>
        <p:spPr>
          <a:xfrm>
            <a:off x="7685842" y="2746177"/>
            <a:ext cx="2835235" cy="354330"/>
          </a:xfrm>
          <a:prstGeom prst="rect">
            <a:avLst/>
          </a:prstGeom>
          <a:noFill/>
          <a:ln/>
        </p:spPr>
        <p:txBody>
          <a:bodyPr wrap="none" lIns="0" tIns="0" rIns="0" bIns="0" rtlCol="0" anchor="t"/>
          <a:lstStyle/>
          <a:p>
            <a:pPr marL="0" indent="0" algn="l">
              <a:lnSpc>
                <a:spcPts val="2750"/>
              </a:lnSpc>
              <a:buNone/>
            </a:pPr>
            <a:r>
              <a:rPr lang="en-US" sz="2000" b="1" dirty="0">
                <a:solidFill>
                  <a:srgbClr val="E5E0DF"/>
                </a:solidFill>
                <a:latin typeface="Times New Roman" panose="02020603050405020304" pitchFamily="18" charset="0"/>
                <a:ea typeface="Inter Bold" pitchFamily="34" charset="-122"/>
                <a:cs typeface="Times New Roman" panose="02020603050405020304" pitchFamily="18" charset="0"/>
              </a:rPr>
              <a:t>Priority </a:t>
            </a:r>
            <a:r>
              <a:rPr lang="en-US" sz="2400" b="1" dirty="0">
                <a:solidFill>
                  <a:srgbClr val="E5E0DF"/>
                </a:solidFill>
                <a:latin typeface="Times New Roman" panose="02020603050405020304" pitchFamily="18" charset="0"/>
                <a:ea typeface="Inter Bold" pitchFamily="34" charset="-122"/>
                <a:cs typeface="Times New Roman" panose="02020603050405020304" pitchFamily="18" charset="0"/>
              </a:rPr>
              <a:t>Assignment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7685842" y="3236595"/>
            <a:ext cx="5893475" cy="1088708"/>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Times New Roman" panose="02020603050405020304" pitchFamily="18" charset="0"/>
                <a:ea typeface="Inter" pitchFamily="34" charset="-122"/>
                <a:cs typeface="Times New Roman" panose="02020603050405020304" pitchFamily="18" charset="0"/>
              </a:rPr>
              <a:t>Utilize Gemini's intelligence to determine and assign appropriate priority levels based on detected urgency within the ticket content.</a:t>
            </a:r>
            <a:endParaRPr lang="en-US" sz="2000" dirty="0">
              <a:latin typeface="Times New Roman" panose="02020603050405020304" pitchFamily="18" charset="0"/>
              <a:cs typeface="Times New Roman" panose="02020603050405020304" pitchFamily="18" charset="0"/>
            </a:endParaRPr>
          </a:p>
        </p:txBody>
      </p:sp>
      <p:sp>
        <p:nvSpPr>
          <p:cNvPr id="15" name="Shape 13"/>
          <p:cNvSpPr/>
          <p:nvPr/>
        </p:nvSpPr>
        <p:spPr>
          <a:xfrm>
            <a:off x="793790" y="5149572"/>
            <a:ext cx="6407944" cy="2403396"/>
          </a:xfrm>
          <a:prstGeom prst="roundRect">
            <a:avLst>
              <a:gd name="adj" fmla="val 6087"/>
            </a:avLst>
          </a:prstGeom>
          <a:solidFill>
            <a:srgbClr val="272525"/>
          </a:solidFill>
          <a:ln/>
        </p:spPr>
        <p:txBody>
          <a:bodyPr/>
          <a:lstStyle/>
          <a:p>
            <a:endParaRPr lang="en-US"/>
          </a:p>
        </p:txBody>
      </p:sp>
      <p:sp>
        <p:nvSpPr>
          <p:cNvPr id="16" name="Shape 14"/>
          <p:cNvSpPr/>
          <p:nvPr/>
        </p:nvSpPr>
        <p:spPr>
          <a:xfrm>
            <a:off x="793790" y="5119092"/>
            <a:ext cx="6407944" cy="121920"/>
          </a:xfrm>
          <a:prstGeom prst="roundRect">
            <a:avLst>
              <a:gd name="adj" fmla="val 78139"/>
            </a:avLst>
          </a:prstGeom>
          <a:solidFill>
            <a:srgbClr val="2B0AFF"/>
          </a:solidFill>
          <a:ln/>
        </p:spPr>
        <p:txBody>
          <a:bodyPr/>
          <a:lstStyle/>
          <a:p>
            <a:endParaRPr lang="en-US"/>
          </a:p>
        </p:txBody>
      </p:sp>
      <p:sp>
        <p:nvSpPr>
          <p:cNvPr id="17" name="Shape 15"/>
          <p:cNvSpPr/>
          <p:nvPr/>
        </p:nvSpPr>
        <p:spPr>
          <a:xfrm>
            <a:off x="3657540" y="4809411"/>
            <a:ext cx="680442" cy="680442"/>
          </a:xfrm>
          <a:prstGeom prst="roundRect">
            <a:avLst>
              <a:gd name="adj" fmla="val 134383"/>
            </a:avLst>
          </a:prstGeom>
          <a:solidFill>
            <a:srgbClr val="2B0AFF"/>
          </a:solidFill>
          <a:ln/>
        </p:spPr>
        <p:txBody>
          <a:bodyPr/>
          <a:lstStyle/>
          <a:p>
            <a:endParaRPr lang="en-US"/>
          </a:p>
        </p:txBody>
      </p:sp>
      <p:sp>
        <p:nvSpPr>
          <p:cNvPr id="18" name="Text 16"/>
          <p:cNvSpPr/>
          <p:nvPr/>
        </p:nvSpPr>
        <p:spPr>
          <a:xfrm>
            <a:off x="3861614" y="4979551"/>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3</a:t>
            </a:r>
            <a:endParaRPr lang="en-US" sz="2100" dirty="0"/>
          </a:p>
        </p:txBody>
      </p:sp>
      <p:sp>
        <p:nvSpPr>
          <p:cNvPr id="19" name="Text 17"/>
          <p:cNvSpPr/>
          <p:nvPr/>
        </p:nvSpPr>
        <p:spPr>
          <a:xfrm>
            <a:off x="1051084" y="5716548"/>
            <a:ext cx="4317087" cy="354330"/>
          </a:xfrm>
          <a:prstGeom prst="rect">
            <a:avLst/>
          </a:prstGeom>
          <a:noFill/>
          <a:ln/>
        </p:spPr>
        <p:txBody>
          <a:bodyPr wrap="none" lIns="0" tIns="0" rIns="0" bIns="0" rtlCol="0" anchor="t"/>
          <a:lstStyle/>
          <a:p>
            <a:pPr marL="0" indent="0" algn="l">
              <a:lnSpc>
                <a:spcPts val="2750"/>
              </a:lnSpc>
              <a:buNone/>
            </a:pPr>
            <a:r>
              <a:rPr lang="en-US" sz="2000" b="1" dirty="0">
                <a:solidFill>
                  <a:srgbClr val="E5E0DF"/>
                </a:solidFill>
                <a:latin typeface="Times New Roman" panose="02020603050405020304" pitchFamily="18" charset="0"/>
                <a:ea typeface="Inter Bold" pitchFamily="34" charset="-122"/>
                <a:cs typeface="Times New Roman" panose="02020603050405020304" pitchFamily="18" charset="0"/>
              </a:rPr>
              <a:t>Agent Dashboard </a:t>
            </a:r>
            <a:r>
              <a:rPr lang="en-US" sz="2400" b="1" dirty="0">
                <a:solidFill>
                  <a:srgbClr val="E5E0DF"/>
                </a:solidFill>
                <a:latin typeface="Times New Roman" panose="02020603050405020304" pitchFamily="18" charset="0"/>
                <a:ea typeface="Inter Bold" pitchFamily="34" charset="-122"/>
                <a:cs typeface="Times New Roman" panose="02020603050405020304" pitchFamily="18" charset="0"/>
              </a:rPr>
              <a:t>Development</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1051084" y="6206966"/>
            <a:ext cx="5893356" cy="1088708"/>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Times New Roman" panose="02020603050405020304" pitchFamily="18" charset="0"/>
                <a:ea typeface="Inter" pitchFamily="34" charset="-122"/>
                <a:cs typeface="Times New Roman" panose="02020603050405020304" pitchFamily="18" charset="0"/>
              </a:rPr>
              <a:t>Develop a user-friendly Agent Dashboard to visualize classified tickets, enabling efficient filtering and rapid pickup by support staff based on their expertise.</a:t>
            </a:r>
            <a:endParaRPr lang="en-US" sz="2000" dirty="0">
              <a:latin typeface="Times New Roman" panose="02020603050405020304" pitchFamily="18" charset="0"/>
              <a:cs typeface="Times New Roman" panose="02020603050405020304" pitchFamily="18" charset="0"/>
            </a:endParaRPr>
          </a:p>
        </p:txBody>
      </p:sp>
      <p:sp>
        <p:nvSpPr>
          <p:cNvPr id="21" name="Shape 19"/>
          <p:cNvSpPr/>
          <p:nvPr/>
        </p:nvSpPr>
        <p:spPr>
          <a:xfrm>
            <a:off x="7428548" y="5149572"/>
            <a:ext cx="6408063" cy="2403396"/>
          </a:xfrm>
          <a:prstGeom prst="roundRect">
            <a:avLst>
              <a:gd name="adj" fmla="val 6087"/>
            </a:avLst>
          </a:prstGeom>
          <a:solidFill>
            <a:srgbClr val="272525"/>
          </a:solidFill>
          <a:ln/>
        </p:spPr>
        <p:txBody>
          <a:bodyPr/>
          <a:lstStyle/>
          <a:p>
            <a:endParaRPr lang="en-US"/>
          </a:p>
        </p:txBody>
      </p:sp>
      <p:sp>
        <p:nvSpPr>
          <p:cNvPr id="22" name="Shape 20"/>
          <p:cNvSpPr/>
          <p:nvPr/>
        </p:nvSpPr>
        <p:spPr>
          <a:xfrm>
            <a:off x="7428548" y="5119092"/>
            <a:ext cx="6408063" cy="121920"/>
          </a:xfrm>
          <a:prstGeom prst="roundRect">
            <a:avLst>
              <a:gd name="adj" fmla="val 78139"/>
            </a:avLst>
          </a:prstGeom>
          <a:solidFill>
            <a:srgbClr val="2B0AFF"/>
          </a:solidFill>
          <a:ln/>
        </p:spPr>
        <p:txBody>
          <a:bodyPr/>
          <a:lstStyle/>
          <a:p>
            <a:endParaRPr lang="en-US"/>
          </a:p>
        </p:txBody>
      </p:sp>
      <p:sp>
        <p:nvSpPr>
          <p:cNvPr id="23" name="Shape 21"/>
          <p:cNvSpPr/>
          <p:nvPr/>
        </p:nvSpPr>
        <p:spPr>
          <a:xfrm>
            <a:off x="10292298" y="4809411"/>
            <a:ext cx="680442" cy="680442"/>
          </a:xfrm>
          <a:prstGeom prst="roundRect">
            <a:avLst>
              <a:gd name="adj" fmla="val 134383"/>
            </a:avLst>
          </a:prstGeom>
          <a:solidFill>
            <a:srgbClr val="2B0AFF"/>
          </a:solidFill>
          <a:ln/>
        </p:spPr>
        <p:txBody>
          <a:bodyPr/>
          <a:lstStyle/>
          <a:p>
            <a:endParaRPr lang="en-US"/>
          </a:p>
        </p:txBody>
      </p:sp>
      <p:sp>
        <p:nvSpPr>
          <p:cNvPr id="24" name="Text 22"/>
          <p:cNvSpPr/>
          <p:nvPr/>
        </p:nvSpPr>
        <p:spPr>
          <a:xfrm>
            <a:off x="10496371" y="4979551"/>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Inter Bold" pitchFamily="34" charset="0"/>
                <a:ea typeface="Inter Bold" pitchFamily="34" charset="-122"/>
                <a:cs typeface="Inter Bold" pitchFamily="34" charset="-120"/>
              </a:rPr>
              <a:t>4</a:t>
            </a:r>
            <a:endParaRPr lang="en-US" sz="2100" dirty="0"/>
          </a:p>
        </p:txBody>
      </p:sp>
      <p:sp>
        <p:nvSpPr>
          <p:cNvPr id="25" name="Text 23"/>
          <p:cNvSpPr/>
          <p:nvPr/>
        </p:nvSpPr>
        <p:spPr>
          <a:xfrm>
            <a:off x="7685842" y="5716548"/>
            <a:ext cx="3887510" cy="354330"/>
          </a:xfrm>
          <a:prstGeom prst="rect">
            <a:avLst/>
          </a:prstGeom>
          <a:noFill/>
          <a:ln/>
        </p:spPr>
        <p:txBody>
          <a:bodyPr wrap="none" lIns="0" tIns="0" rIns="0" bIns="0" rtlCol="0" anchor="t"/>
          <a:lstStyle/>
          <a:p>
            <a:pPr marL="0" indent="0" algn="l">
              <a:lnSpc>
                <a:spcPts val="2750"/>
              </a:lnSpc>
              <a:buNone/>
            </a:pPr>
            <a:r>
              <a:rPr lang="en-US" sz="2000" b="1" dirty="0">
                <a:solidFill>
                  <a:srgbClr val="E5E0DF"/>
                </a:solidFill>
                <a:latin typeface="Times New Roman" panose="02020603050405020304" pitchFamily="18" charset="0"/>
                <a:ea typeface="Inter Bold" pitchFamily="34" charset="-122"/>
                <a:cs typeface="Times New Roman" panose="02020603050405020304" pitchFamily="18" charset="0"/>
              </a:rPr>
              <a:t>Reduced </a:t>
            </a:r>
            <a:r>
              <a:rPr lang="en-US" sz="2400" b="1" dirty="0">
                <a:solidFill>
                  <a:srgbClr val="E5E0DF"/>
                </a:solidFill>
                <a:latin typeface="Times New Roman" panose="02020603050405020304" pitchFamily="18" charset="0"/>
                <a:ea typeface="Inter Bold" pitchFamily="34" charset="-122"/>
                <a:cs typeface="Times New Roman" panose="02020603050405020304" pitchFamily="18" charset="0"/>
              </a:rPr>
              <a:t>Time-to-Response</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7685842" y="6206966"/>
            <a:ext cx="5893475" cy="1088708"/>
          </a:xfrm>
          <a:prstGeom prst="rect">
            <a:avLst/>
          </a:prstGeom>
          <a:noFill/>
          <a:ln/>
        </p:spPr>
        <p:txBody>
          <a:bodyPr wrap="square" lIns="0" tIns="0" rIns="0" bIns="0" rtlCol="0" anchor="t"/>
          <a:lstStyle/>
          <a:p>
            <a:pPr marL="0" indent="0" algn="l">
              <a:lnSpc>
                <a:spcPts val="2850"/>
              </a:lnSpc>
              <a:buNone/>
            </a:pPr>
            <a:r>
              <a:rPr lang="en-US" sz="2000" dirty="0">
                <a:solidFill>
                  <a:srgbClr val="E5E0DF"/>
                </a:solidFill>
                <a:latin typeface="Times New Roman" panose="02020603050405020304" pitchFamily="18" charset="0"/>
                <a:ea typeface="Inter" pitchFamily="34" charset="-122"/>
                <a:cs typeface="Times New Roman" panose="02020603050405020304" pitchFamily="18" charset="0"/>
              </a:rPr>
              <a:t>Significantly reduce the "time-to-first-response" by eliminating the need for manual pre-sorting by agents, streamlining the entire triage process.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8D8042-3B71-FE08-DEF3-2638AF5A930B}"/>
              </a:ext>
            </a:extLst>
          </p:cNvPr>
          <p:cNvPicPr>
            <a:picLocks noChangeAspect="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229195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A026C3-503B-A6F5-E862-50FF194EDE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4630400" cy="8229196"/>
          </a:xfrm>
          <a:prstGeom prst="rect">
            <a:avLst/>
          </a:prstGeom>
        </p:spPr>
      </p:pic>
    </p:spTree>
    <p:extLst>
      <p:ext uri="{BB962C8B-B14F-4D97-AF65-F5344CB8AC3E}">
        <p14:creationId xmlns:p14="http://schemas.microsoft.com/office/powerpoint/2010/main" val="280787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A1F153-2A9A-18E1-6ABF-470326C915EA}"/>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Front-end</a:t>
            </a:r>
          </a:p>
        </p:txBody>
      </p:sp>
      <p:pic>
        <p:nvPicPr>
          <p:cNvPr id="4" name="Picture 3" descr="A screenshot of a computer&#10;&#10;AI-generated content may be incorrect.">
            <a:extLst>
              <a:ext uri="{FF2B5EF4-FFF2-40B4-BE49-F238E27FC236}">
                <a16:creationId xmlns:a16="http://schemas.microsoft.com/office/drawing/2014/main" id="{04228DC2-69A1-C340-0BE4-6E7D4CF22FD6}"/>
              </a:ext>
            </a:extLst>
          </p:cNvPr>
          <p:cNvPicPr>
            <a:picLocks noChangeAspect="1"/>
          </p:cNvPicPr>
          <p:nvPr/>
        </p:nvPicPr>
        <p:blipFill>
          <a:blip r:embed="rId2"/>
          <a:stretch>
            <a:fillRect/>
          </a:stretch>
        </p:blipFill>
        <p:spPr>
          <a:xfrm>
            <a:off x="136586" y="1860113"/>
            <a:ext cx="6943146" cy="4509371"/>
          </a:xfrm>
          <a:prstGeom prst="rect">
            <a:avLst/>
          </a:prstGeom>
        </p:spPr>
      </p:pic>
      <p:sp>
        <p:nvSpPr>
          <p:cNvPr id="5" name="TextBox 4">
            <a:extLst>
              <a:ext uri="{FF2B5EF4-FFF2-40B4-BE49-F238E27FC236}">
                <a16:creationId xmlns:a16="http://schemas.microsoft.com/office/drawing/2014/main" id="{B051C615-8C3F-446C-5EC6-E31FA7BDE035}"/>
              </a:ext>
            </a:extLst>
          </p:cNvPr>
          <p:cNvSpPr txBox="1"/>
          <p:nvPr/>
        </p:nvSpPr>
        <p:spPr>
          <a:xfrm>
            <a:off x="1716066" y="6613742"/>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Fig.1 Login page</a:t>
            </a:r>
          </a:p>
        </p:txBody>
      </p:sp>
      <p:pic>
        <p:nvPicPr>
          <p:cNvPr id="7" name="Picture 6" descr="A screenshot of a computer&#10;&#10;AI-generated content may be incorrect.">
            <a:extLst>
              <a:ext uri="{FF2B5EF4-FFF2-40B4-BE49-F238E27FC236}">
                <a16:creationId xmlns:a16="http://schemas.microsoft.com/office/drawing/2014/main" id="{89751B5A-FF89-B4F4-614B-EE79771FAE09}"/>
              </a:ext>
            </a:extLst>
          </p:cNvPr>
          <p:cNvPicPr>
            <a:picLocks noChangeAspect="1"/>
          </p:cNvPicPr>
          <p:nvPr/>
        </p:nvPicPr>
        <p:blipFill>
          <a:blip r:embed="rId3"/>
          <a:stretch>
            <a:fillRect/>
          </a:stretch>
        </p:blipFill>
        <p:spPr>
          <a:xfrm>
            <a:off x="7550669" y="1860114"/>
            <a:ext cx="6943145" cy="4509370"/>
          </a:xfrm>
          <a:prstGeom prst="rect">
            <a:avLst/>
          </a:prstGeom>
        </p:spPr>
      </p:pic>
      <p:sp>
        <p:nvSpPr>
          <p:cNvPr id="8" name="TextBox 7">
            <a:extLst>
              <a:ext uri="{FF2B5EF4-FFF2-40B4-BE49-F238E27FC236}">
                <a16:creationId xmlns:a16="http://schemas.microsoft.com/office/drawing/2014/main" id="{D05630E3-5716-6CDB-0AA9-9C58E1AF2D5A}"/>
              </a:ext>
            </a:extLst>
          </p:cNvPr>
          <p:cNvSpPr txBox="1"/>
          <p:nvPr/>
        </p:nvSpPr>
        <p:spPr>
          <a:xfrm>
            <a:off x="9509342" y="6613741"/>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Fig.2 Customer Dashboard</a:t>
            </a:r>
          </a:p>
        </p:txBody>
      </p:sp>
    </p:spTree>
    <p:extLst>
      <p:ext uri="{BB962C8B-B14F-4D97-AF65-F5344CB8AC3E}">
        <p14:creationId xmlns:p14="http://schemas.microsoft.com/office/powerpoint/2010/main" val="291218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FD179-AA2C-DC2F-7DEA-19BD2EFD1C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4A9771-DF0E-0D5A-B5F2-A781B688D189}"/>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Front-end</a:t>
            </a:r>
          </a:p>
        </p:txBody>
      </p:sp>
      <p:sp>
        <p:nvSpPr>
          <p:cNvPr id="5" name="TextBox 4">
            <a:extLst>
              <a:ext uri="{FF2B5EF4-FFF2-40B4-BE49-F238E27FC236}">
                <a16:creationId xmlns:a16="http://schemas.microsoft.com/office/drawing/2014/main" id="{34908348-054D-2BEC-427B-2F90405125E9}"/>
              </a:ext>
            </a:extLst>
          </p:cNvPr>
          <p:cNvSpPr txBox="1"/>
          <p:nvPr/>
        </p:nvSpPr>
        <p:spPr>
          <a:xfrm>
            <a:off x="1716066" y="6613742"/>
            <a:ext cx="3507287" cy="830997"/>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Fig.3 Ticket Creation From</a:t>
            </a:r>
          </a:p>
        </p:txBody>
      </p:sp>
      <p:sp>
        <p:nvSpPr>
          <p:cNvPr id="8" name="TextBox 7">
            <a:extLst>
              <a:ext uri="{FF2B5EF4-FFF2-40B4-BE49-F238E27FC236}">
                <a16:creationId xmlns:a16="http://schemas.microsoft.com/office/drawing/2014/main" id="{EB38A8DC-A17B-95C3-D6BA-E72A5CE468D4}"/>
              </a:ext>
            </a:extLst>
          </p:cNvPr>
          <p:cNvSpPr txBox="1"/>
          <p:nvPr/>
        </p:nvSpPr>
        <p:spPr>
          <a:xfrm>
            <a:off x="9509342" y="6613741"/>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Fig.4 Agent Dashboard</a:t>
            </a:r>
          </a:p>
        </p:txBody>
      </p:sp>
      <p:pic>
        <p:nvPicPr>
          <p:cNvPr id="6" name="Picture 5" descr="A screenshot of a computer&#10;&#10;AI-generated content may be incorrect.">
            <a:extLst>
              <a:ext uri="{FF2B5EF4-FFF2-40B4-BE49-F238E27FC236}">
                <a16:creationId xmlns:a16="http://schemas.microsoft.com/office/drawing/2014/main" id="{3EF223E7-E216-0BC8-88A2-40F2A65F979D}"/>
              </a:ext>
            </a:extLst>
          </p:cNvPr>
          <p:cNvPicPr>
            <a:picLocks noChangeAspect="1"/>
          </p:cNvPicPr>
          <p:nvPr/>
        </p:nvPicPr>
        <p:blipFill>
          <a:blip r:embed="rId2"/>
          <a:stretch>
            <a:fillRect/>
          </a:stretch>
        </p:blipFill>
        <p:spPr>
          <a:xfrm>
            <a:off x="112733" y="1678487"/>
            <a:ext cx="6923861" cy="4496845"/>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DDCE6E18-A435-EDD2-7584-0099522C9112}"/>
              </a:ext>
            </a:extLst>
          </p:cNvPr>
          <p:cNvPicPr>
            <a:picLocks noChangeAspect="1"/>
          </p:cNvPicPr>
          <p:nvPr/>
        </p:nvPicPr>
        <p:blipFill>
          <a:blip r:embed="rId3"/>
          <a:stretch>
            <a:fillRect/>
          </a:stretch>
        </p:blipFill>
        <p:spPr>
          <a:xfrm>
            <a:off x="7593803" y="1678487"/>
            <a:ext cx="6923861" cy="4496845"/>
          </a:xfrm>
          <a:prstGeom prst="rect">
            <a:avLst/>
          </a:prstGeom>
        </p:spPr>
      </p:pic>
    </p:spTree>
    <p:extLst>
      <p:ext uri="{BB962C8B-B14F-4D97-AF65-F5344CB8AC3E}">
        <p14:creationId xmlns:p14="http://schemas.microsoft.com/office/powerpoint/2010/main" val="3722131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316D8-53C9-A9E4-D4FA-F7179ECDF6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668936-8457-98A8-B2EC-D40EFE8F1AFC}"/>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Front-end</a:t>
            </a:r>
          </a:p>
        </p:txBody>
      </p:sp>
      <p:sp>
        <p:nvSpPr>
          <p:cNvPr id="5" name="TextBox 4">
            <a:extLst>
              <a:ext uri="{FF2B5EF4-FFF2-40B4-BE49-F238E27FC236}">
                <a16:creationId xmlns:a16="http://schemas.microsoft.com/office/drawing/2014/main" id="{4FA2A632-0DE9-C947-693B-689C2BA2674E}"/>
              </a:ext>
            </a:extLst>
          </p:cNvPr>
          <p:cNvSpPr txBox="1"/>
          <p:nvPr/>
        </p:nvSpPr>
        <p:spPr>
          <a:xfrm>
            <a:off x="1716066" y="6613742"/>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Fig.5 Ticket Overview</a:t>
            </a:r>
          </a:p>
        </p:txBody>
      </p:sp>
      <p:sp>
        <p:nvSpPr>
          <p:cNvPr id="8" name="TextBox 7">
            <a:extLst>
              <a:ext uri="{FF2B5EF4-FFF2-40B4-BE49-F238E27FC236}">
                <a16:creationId xmlns:a16="http://schemas.microsoft.com/office/drawing/2014/main" id="{A461749F-52F9-B40E-5B67-AC55E9399EED}"/>
              </a:ext>
            </a:extLst>
          </p:cNvPr>
          <p:cNvSpPr txBox="1"/>
          <p:nvPr/>
        </p:nvSpPr>
        <p:spPr>
          <a:xfrm>
            <a:off x="9509342" y="6613741"/>
            <a:ext cx="3507287" cy="830997"/>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Fig.6 Administrator’s Dashboard</a:t>
            </a:r>
          </a:p>
        </p:txBody>
      </p:sp>
      <p:pic>
        <p:nvPicPr>
          <p:cNvPr id="6" name="Picture 5" descr="A screenshot of a computer&#10;&#10;AI-generated content may be incorrect.">
            <a:extLst>
              <a:ext uri="{FF2B5EF4-FFF2-40B4-BE49-F238E27FC236}">
                <a16:creationId xmlns:a16="http://schemas.microsoft.com/office/drawing/2014/main" id="{DBDBE674-3A90-9159-6462-4F356DA243A1}"/>
              </a:ext>
            </a:extLst>
          </p:cNvPr>
          <p:cNvPicPr>
            <a:picLocks noChangeAspect="1"/>
          </p:cNvPicPr>
          <p:nvPr/>
        </p:nvPicPr>
        <p:blipFill>
          <a:blip r:embed="rId2"/>
          <a:stretch>
            <a:fillRect/>
          </a:stretch>
        </p:blipFill>
        <p:spPr>
          <a:xfrm>
            <a:off x="337390" y="2129466"/>
            <a:ext cx="6723926" cy="4366994"/>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30198C2C-A2DC-1F01-A8E4-B6529799945B}"/>
              </a:ext>
            </a:extLst>
          </p:cNvPr>
          <p:cNvPicPr>
            <a:picLocks noChangeAspect="1"/>
          </p:cNvPicPr>
          <p:nvPr/>
        </p:nvPicPr>
        <p:blipFill>
          <a:blip r:embed="rId3"/>
          <a:stretch>
            <a:fillRect/>
          </a:stretch>
        </p:blipFill>
        <p:spPr>
          <a:xfrm>
            <a:off x="7706058" y="2129466"/>
            <a:ext cx="6723926" cy="4366994"/>
          </a:xfrm>
          <a:prstGeom prst="rect">
            <a:avLst/>
          </a:prstGeom>
        </p:spPr>
      </p:pic>
    </p:spTree>
    <p:extLst>
      <p:ext uri="{BB962C8B-B14F-4D97-AF65-F5344CB8AC3E}">
        <p14:creationId xmlns:p14="http://schemas.microsoft.com/office/powerpoint/2010/main" val="1206401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8E033-2256-CB48-B43B-E9360EFF80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4CFDF1-9E64-4208-8AB9-DCDCBA7E4675}"/>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Front-end</a:t>
            </a:r>
          </a:p>
        </p:txBody>
      </p:sp>
      <p:sp>
        <p:nvSpPr>
          <p:cNvPr id="5" name="TextBox 4">
            <a:extLst>
              <a:ext uri="{FF2B5EF4-FFF2-40B4-BE49-F238E27FC236}">
                <a16:creationId xmlns:a16="http://schemas.microsoft.com/office/drawing/2014/main" id="{59F0C29F-FF04-2AA9-0266-D2132A398A8F}"/>
              </a:ext>
            </a:extLst>
          </p:cNvPr>
          <p:cNvSpPr txBox="1"/>
          <p:nvPr/>
        </p:nvSpPr>
        <p:spPr>
          <a:xfrm>
            <a:off x="1716066" y="6613742"/>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Fig.7 Active Issues</a:t>
            </a:r>
          </a:p>
        </p:txBody>
      </p:sp>
      <p:sp>
        <p:nvSpPr>
          <p:cNvPr id="8" name="TextBox 7">
            <a:extLst>
              <a:ext uri="{FF2B5EF4-FFF2-40B4-BE49-F238E27FC236}">
                <a16:creationId xmlns:a16="http://schemas.microsoft.com/office/drawing/2014/main" id="{1D26ECEE-584B-BBFF-ABD2-8403EF145A43}"/>
              </a:ext>
            </a:extLst>
          </p:cNvPr>
          <p:cNvSpPr txBox="1"/>
          <p:nvPr/>
        </p:nvSpPr>
        <p:spPr>
          <a:xfrm>
            <a:off x="9509342" y="6613741"/>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Fig.8 Ticket Archive</a:t>
            </a:r>
          </a:p>
        </p:txBody>
      </p:sp>
      <p:pic>
        <p:nvPicPr>
          <p:cNvPr id="4" name="Picture 3" descr="A screenshot of a computer&#10;&#10;AI-generated content may be incorrect.">
            <a:extLst>
              <a:ext uri="{FF2B5EF4-FFF2-40B4-BE49-F238E27FC236}">
                <a16:creationId xmlns:a16="http://schemas.microsoft.com/office/drawing/2014/main" id="{2D43BDF8-E84B-69D0-D15D-3AA234E72A68}"/>
              </a:ext>
            </a:extLst>
          </p:cNvPr>
          <p:cNvPicPr>
            <a:picLocks noChangeAspect="1"/>
          </p:cNvPicPr>
          <p:nvPr/>
        </p:nvPicPr>
        <p:blipFill>
          <a:blip r:embed="rId2"/>
          <a:stretch>
            <a:fillRect/>
          </a:stretch>
        </p:blipFill>
        <p:spPr>
          <a:xfrm>
            <a:off x="37578" y="1681831"/>
            <a:ext cx="7227297" cy="4693918"/>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75B509F6-2A02-C678-5C11-FDADA3BFE770}"/>
              </a:ext>
            </a:extLst>
          </p:cNvPr>
          <p:cNvPicPr>
            <a:picLocks noChangeAspect="1"/>
          </p:cNvPicPr>
          <p:nvPr/>
        </p:nvPicPr>
        <p:blipFill>
          <a:blip r:embed="rId3"/>
          <a:stretch>
            <a:fillRect/>
          </a:stretch>
        </p:blipFill>
        <p:spPr>
          <a:xfrm>
            <a:off x="7354865" y="1681831"/>
            <a:ext cx="7227297" cy="4693918"/>
          </a:xfrm>
          <a:prstGeom prst="rect">
            <a:avLst/>
          </a:prstGeom>
        </p:spPr>
      </p:pic>
    </p:spTree>
    <p:extLst>
      <p:ext uri="{BB962C8B-B14F-4D97-AF65-F5344CB8AC3E}">
        <p14:creationId xmlns:p14="http://schemas.microsoft.com/office/powerpoint/2010/main" val="403659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0E5B-50AA-A0F9-21DC-CEB75709F6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D6D3CD-2821-F9D3-3D6D-954916F7E4E1}"/>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Front-end</a:t>
            </a:r>
          </a:p>
        </p:txBody>
      </p:sp>
      <p:sp>
        <p:nvSpPr>
          <p:cNvPr id="5" name="TextBox 4">
            <a:extLst>
              <a:ext uri="{FF2B5EF4-FFF2-40B4-BE49-F238E27FC236}">
                <a16:creationId xmlns:a16="http://schemas.microsoft.com/office/drawing/2014/main" id="{3A3FB87F-461D-EBEA-8204-19641A5DFAD7}"/>
              </a:ext>
            </a:extLst>
          </p:cNvPr>
          <p:cNvSpPr txBox="1"/>
          <p:nvPr/>
        </p:nvSpPr>
        <p:spPr>
          <a:xfrm>
            <a:off x="5561555" y="6576164"/>
            <a:ext cx="3507287" cy="830997"/>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Fig.9 Admin Control Center</a:t>
            </a:r>
          </a:p>
        </p:txBody>
      </p:sp>
      <p:pic>
        <p:nvPicPr>
          <p:cNvPr id="6" name="Picture 5" descr="A screenshot of a computer&#10;&#10;AI-generated content may be incorrect.">
            <a:extLst>
              <a:ext uri="{FF2B5EF4-FFF2-40B4-BE49-F238E27FC236}">
                <a16:creationId xmlns:a16="http://schemas.microsoft.com/office/drawing/2014/main" id="{32BF77DC-D925-94CE-63EE-984C27FA32AE}"/>
              </a:ext>
            </a:extLst>
          </p:cNvPr>
          <p:cNvPicPr>
            <a:picLocks noChangeAspect="1"/>
          </p:cNvPicPr>
          <p:nvPr/>
        </p:nvPicPr>
        <p:blipFill>
          <a:blip r:embed="rId2"/>
          <a:stretch>
            <a:fillRect/>
          </a:stretch>
        </p:blipFill>
        <p:spPr>
          <a:xfrm>
            <a:off x="3747194" y="1797485"/>
            <a:ext cx="7136010" cy="4634630"/>
          </a:xfrm>
          <a:prstGeom prst="rect">
            <a:avLst/>
          </a:prstGeom>
        </p:spPr>
      </p:pic>
    </p:spTree>
    <p:extLst>
      <p:ext uri="{BB962C8B-B14F-4D97-AF65-F5344CB8AC3E}">
        <p14:creationId xmlns:p14="http://schemas.microsoft.com/office/powerpoint/2010/main" val="2098579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23E25-7594-6567-A3FC-84B4D2A7A7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F766FB-CBA9-8A04-2DBB-87A22735DA62}"/>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Back-end</a:t>
            </a:r>
          </a:p>
        </p:txBody>
      </p:sp>
      <p:sp>
        <p:nvSpPr>
          <p:cNvPr id="5" name="TextBox 4">
            <a:extLst>
              <a:ext uri="{FF2B5EF4-FFF2-40B4-BE49-F238E27FC236}">
                <a16:creationId xmlns:a16="http://schemas.microsoft.com/office/drawing/2014/main" id="{B184E929-9D43-A908-8D62-6A7C46ECD5FF}"/>
              </a:ext>
            </a:extLst>
          </p:cNvPr>
          <p:cNvSpPr txBox="1"/>
          <p:nvPr/>
        </p:nvSpPr>
        <p:spPr>
          <a:xfrm>
            <a:off x="1753642" y="6482498"/>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Fig.10 Users Table</a:t>
            </a:r>
          </a:p>
        </p:txBody>
      </p:sp>
      <p:pic>
        <p:nvPicPr>
          <p:cNvPr id="4" name="Picture 3">
            <a:extLst>
              <a:ext uri="{FF2B5EF4-FFF2-40B4-BE49-F238E27FC236}">
                <a16:creationId xmlns:a16="http://schemas.microsoft.com/office/drawing/2014/main" id="{8C54EE3A-FCA3-7628-195E-7E21028FCCDD}"/>
              </a:ext>
            </a:extLst>
          </p:cNvPr>
          <p:cNvPicPr>
            <a:picLocks noChangeAspect="1"/>
          </p:cNvPicPr>
          <p:nvPr/>
        </p:nvPicPr>
        <p:blipFill>
          <a:blip r:embed="rId2"/>
          <a:stretch>
            <a:fillRect/>
          </a:stretch>
        </p:blipFill>
        <p:spPr>
          <a:xfrm>
            <a:off x="153710" y="2126398"/>
            <a:ext cx="6707153" cy="4356100"/>
          </a:xfrm>
          <a:prstGeom prst="rect">
            <a:avLst/>
          </a:prstGeom>
        </p:spPr>
      </p:pic>
      <p:pic>
        <p:nvPicPr>
          <p:cNvPr id="8" name="Picture 7">
            <a:extLst>
              <a:ext uri="{FF2B5EF4-FFF2-40B4-BE49-F238E27FC236}">
                <a16:creationId xmlns:a16="http://schemas.microsoft.com/office/drawing/2014/main" id="{AEA21FD0-A0DE-347B-2BB1-0916E1CD2930}"/>
              </a:ext>
            </a:extLst>
          </p:cNvPr>
          <p:cNvPicPr>
            <a:picLocks noChangeAspect="1"/>
          </p:cNvPicPr>
          <p:nvPr/>
        </p:nvPicPr>
        <p:blipFill>
          <a:blip r:embed="rId3"/>
          <a:stretch>
            <a:fillRect/>
          </a:stretch>
        </p:blipFill>
        <p:spPr>
          <a:xfrm>
            <a:off x="7769536" y="2126397"/>
            <a:ext cx="6707154" cy="4356101"/>
          </a:xfrm>
          <a:prstGeom prst="rect">
            <a:avLst/>
          </a:prstGeom>
        </p:spPr>
      </p:pic>
      <p:sp>
        <p:nvSpPr>
          <p:cNvPr id="9" name="TextBox 8">
            <a:extLst>
              <a:ext uri="{FF2B5EF4-FFF2-40B4-BE49-F238E27FC236}">
                <a16:creationId xmlns:a16="http://schemas.microsoft.com/office/drawing/2014/main" id="{FAE24D51-E4B7-7981-5F8B-0645A1A3904E}"/>
              </a:ext>
            </a:extLst>
          </p:cNvPr>
          <p:cNvSpPr txBox="1"/>
          <p:nvPr/>
        </p:nvSpPr>
        <p:spPr>
          <a:xfrm>
            <a:off x="10326142" y="6482498"/>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Fig.11 Tickets Table</a:t>
            </a:r>
          </a:p>
        </p:txBody>
      </p:sp>
    </p:spTree>
    <p:extLst>
      <p:ext uri="{BB962C8B-B14F-4D97-AF65-F5344CB8AC3E}">
        <p14:creationId xmlns:p14="http://schemas.microsoft.com/office/powerpoint/2010/main" val="3809181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A472-C49A-A2CB-452E-8D527706E9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297035-C5A4-FAE0-EEEA-50347A113A43}"/>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Back-end</a:t>
            </a:r>
          </a:p>
        </p:txBody>
      </p:sp>
      <p:sp>
        <p:nvSpPr>
          <p:cNvPr id="5" name="TextBox 4">
            <a:extLst>
              <a:ext uri="{FF2B5EF4-FFF2-40B4-BE49-F238E27FC236}">
                <a16:creationId xmlns:a16="http://schemas.microsoft.com/office/drawing/2014/main" id="{0D99B834-6ACE-1A66-CCD1-7E6E421F0C10}"/>
              </a:ext>
            </a:extLst>
          </p:cNvPr>
          <p:cNvSpPr txBox="1"/>
          <p:nvPr/>
        </p:nvSpPr>
        <p:spPr>
          <a:xfrm>
            <a:off x="1753642" y="6482498"/>
            <a:ext cx="3507287" cy="830997"/>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Fig.12 </a:t>
            </a:r>
            <a:r>
              <a:rPr lang="en-US" sz="2400" dirty="0" err="1">
                <a:solidFill>
                  <a:schemeClr val="bg1"/>
                </a:solidFill>
                <a:latin typeface="Times New Roman" panose="02020603050405020304" pitchFamily="18" charset="0"/>
                <a:cs typeface="Times New Roman" panose="02020603050405020304" pitchFamily="18" charset="0"/>
              </a:rPr>
              <a:t>Tickets_Update</a:t>
            </a:r>
            <a:r>
              <a:rPr lang="en-US" sz="2400" dirty="0">
                <a:solidFill>
                  <a:schemeClr val="bg1"/>
                </a:solidFill>
                <a:latin typeface="Times New Roman" panose="02020603050405020304" pitchFamily="18" charset="0"/>
                <a:cs typeface="Times New Roman" panose="02020603050405020304" pitchFamily="18" charset="0"/>
              </a:rPr>
              <a:t> Table</a:t>
            </a:r>
          </a:p>
        </p:txBody>
      </p:sp>
      <p:sp>
        <p:nvSpPr>
          <p:cNvPr id="9" name="TextBox 8">
            <a:extLst>
              <a:ext uri="{FF2B5EF4-FFF2-40B4-BE49-F238E27FC236}">
                <a16:creationId xmlns:a16="http://schemas.microsoft.com/office/drawing/2014/main" id="{24438E6C-D054-CDF0-C81E-4562E937DEA7}"/>
              </a:ext>
            </a:extLst>
          </p:cNvPr>
          <p:cNvSpPr txBox="1"/>
          <p:nvPr/>
        </p:nvSpPr>
        <p:spPr>
          <a:xfrm>
            <a:off x="10326142" y="6482498"/>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Fig.13 Categories Table</a:t>
            </a:r>
          </a:p>
        </p:txBody>
      </p:sp>
      <p:pic>
        <p:nvPicPr>
          <p:cNvPr id="6" name="Picture 5">
            <a:extLst>
              <a:ext uri="{FF2B5EF4-FFF2-40B4-BE49-F238E27FC236}">
                <a16:creationId xmlns:a16="http://schemas.microsoft.com/office/drawing/2014/main" id="{ABFFC8D9-1325-2963-E042-B9C992760649}"/>
              </a:ext>
            </a:extLst>
          </p:cNvPr>
          <p:cNvPicPr>
            <a:picLocks noChangeAspect="1"/>
          </p:cNvPicPr>
          <p:nvPr/>
        </p:nvPicPr>
        <p:blipFill>
          <a:blip r:embed="rId2"/>
          <a:stretch>
            <a:fillRect/>
          </a:stretch>
        </p:blipFill>
        <p:spPr>
          <a:xfrm>
            <a:off x="153707" y="2126396"/>
            <a:ext cx="6707155" cy="4356102"/>
          </a:xfrm>
          <a:prstGeom prst="rect">
            <a:avLst/>
          </a:prstGeom>
        </p:spPr>
      </p:pic>
      <p:pic>
        <p:nvPicPr>
          <p:cNvPr id="10" name="Picture 9">
            <a:extLst>
              <a:ext uri="{FF2B5EF4-FFF2-40B4-BE49-F238E27FC236}">
                <a16:creationId xmlns:a16="http://schemas.microsoft.com/office/drawing/2014/main" id="{FA06E078-6BBF-C030-F84F-08E8880B533A}"/>
              </a:ext>
            </a:extLst>
          </p:cNvPr>
          <p:cNvPicPr>
            <a:picLocks noChangeAspect="1"/>
          </p:cNvPicPr>
          <p:nvPr/>
        </p:nvPicPr>
        <p:blipFill>
          <a:blip r:embed="rId3"/>
          <a:stretch>
            <a:fillRect/>
          </a:stretch>
        </p:blipFill>
        <p:spPr>
          <a:xfrm>
            <a:off x="7769539" y="2126396"/>
            <a:ext cx="6707154" cy="4356101"/>
          </a:xfrm>
          <a:prstGeom prst="rect">
            <a:avLst/>
          </a:prstGeom>
        </p:spPr>
      </p:pic>
    </p:spTree>
    <p:extLst>
      <p:ext uri="{BB962C8B-B14F-4D97-AF65-F5344CB8AC3E}">
        <p14:creationId xmlns:p14="http://schemas.microsoft.com/office/powerpoint/2010/main" val="712951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1A72F-7241-D798-4100-8D50A11A79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FABF75-3E76-148F-E949-8CF0BB44929E}"/>
              </a:ext>
            </a:extLst>
          </p:cNvPr>
          <p:cNvSpPr txBox="1"/>
          <p:nvPr/>
        </p:nvSpPr>
        <p:spPr>
          <a:xfrm>
            <a:off x="2711884" y="300625"/>
            <a:ext cx="9206631" cy="646331"/>
          </a:xfrm>
          <a:prstGeom prst="rect">
            <a:avLst/>
          </a:prstGeom>
          <a:no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Screenshots Of Back-end</a:t>
            </a:r>
          </a:p>
        </p:txBody>
      </p:sp>
      <p:sp>
        <p:nvSpPr>
          <p:cNvPr id="9" name="TextBox 8">
            <a:extLst>
              <a:ext uri="{FF2B5EF4-FFF2-40B4-BE49-F238E27FC236}">
                <a16:creationId xmlns:a16="http://schemas.microsoft.com/office/drawing/2014/main" id="{61935064-56BA-F72B-2F49-5A9CD1C9C3B5}"/>
              </a:ext>
            </a:extLst>
          </p:cNvPr>
          <p:cNvSpPr txBox="1"/>
          <p:nvPr/>
        </p:nvSpPr>
        <p:spPr>
          <a:xfrm>
            <a:off x="5561555" y="6260474"/>
            <a:ext cx="3507287"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Fig.14 </a:t>
            </a:r>
            <a:r>
              <a:rPr lang="en-US" sz="2400" dirty="0" err="1">
                <a:solidFill>
                  <a:schemeClr val="bg1"/>
                </a:solidFill>
                <a:latin typeface="Times New Roman" panose="02020603050405020304" pitchFamily="18" charset="0"/>
                <a:cs typeface="Times New Roman" panose="02020603050405020304" pitchFamily="18" charset="0"/>
              </a:rPr>
              <a:t>AI_Analysis</a:t>
            </a:r>
            <a:r>
              <a:rPr lang="en-US" sz="2400" dirty="0">
                <a:solidFill>
                  <a:schemeClr val="bg1"/>
                </a:solidFill>
                <a:latin typeface="Times New Roman" panose="02020603050405020304" pitchFamily="18" charset="0"/>
                <a:cs typeface="Times New Roman" panose="02020603050405020304" pitchFamily="18" charset="0"/>
              </a:rPr>
              <a:t> Table</a:t>
            </a:r>
          </a:p>
        </p:txBody>
      </p:sp>
      <p:pic>
        <p:nvPicPr>
          <p:cNvPr id="4" name="Picture 3">
            <a:extLst>
              <a:ext uri="{FF2B5EF4-FFF2-40B4-BE49-F238E27FC236}">
                <a16:creationId xmlns:a16="http://schemas.microsoft.com/office/drawing/2014/main" id="{EC3CCE2C-62CD-73F8-9834-622A685F430A}"/>
              </a:ext>
            </a:extLst>
          </p:cNvPr>
          <p:cNvPicPr>
            <a:picLocks noChangeAspect="1"/>
          </p:cNvPicPr>
          <p:nvPr/>
        </p:nvPicPr>
        <p:blipFill>
          <a:blip r:embed="rId2"/>
          <a:stretch>
            <a:fillRect/>
          </a:stretch>
        </p:blipFill>
        <p:spPr>
          <a:xfrm>
            <a:off x="3961621" y="1425664"/>
            <a:ext cx="6707154" cy="4356101"/>
          </a:xfrm>
          <a:prstGeom prst="rect">
            <a:avLst/>
          </a:prstGeom>
        </p:spPr>
      </p:pic>
    </p:spTree>
    <p:extLst>
      <p:ext uri="{BB962C8B-B14F-4D97-AF65-F5344CB8AC3E}">
        <p14:creationId xmlns:p14="http://schemas.microsoft.com/office/powerpoint/2010/main" val="2288384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324213" y="516374"/>
            <a:ext cx="5705118" cy="542568"/>
          </a:xfrm>
          <a:prstGeom prst="rect">
            <a:avLst/>
          </a:prstGeom>
          <a:noFill/>
          <a:ln/>
        </p:spPr>
        <p:txBody>
          <a:bodyPr wrap="none" lIns="0" tIns="0" rIns="0" bIns="0" rtlCol="0" anchor="t"/>
          <a:lstStyle/>
          <a:p>
            <a:pPr marL="0" indent="0" algn="l">
              <a:lnSpc>
                <a:spcPts val="4250"/>
              </a:lnSpc>
              <a:buNone/>
            </a:pPr>
            <a:r>
              <a:rPr lang="en-US" sz="3400" b="1" dirty="0">
                <a:solidFill>
                  <a:srgbClr val="FFFFFF"/>
                </a:solidFill>
                <a:latin typeface="Times New Roman" panose="02020603050405020304" pitchFamily="18" charset="0"/>
                <a:ea typeface="Inter Bold" pitchFamily="34" charset="-122"/>
                <a:cs typeface="Times New Roman" panose="02020603050405020304" pitchFamily="18" charset="0"/>
              </a:rPr>
              <a:t>Conclusion &amp; Path Forward</a:t>
            </a:r>
            <a:endParaRPr lang="en-US" sz="3400" dirty="0">
              <a:latin typeface="Times New Roman" panose="02020603050405020304" pitchFamily="18" charset="0"/>
              <a:cs typeface="Times New Roman" panose="02020603050405020304" pitchFamily="18" charset="0"/>
            </a:endParaRPr>
          </a:p>
        </p:txBody>
      </p:sp>
      <p:sp>
        <p:nvSpPr>
          <p:cNvPr id="3" name="Text 1"/>
          <p:cNvSpPr/>
          <p:nvPr/>
        </p:nvSpPr>
        <p:spPr>
          <a:xfrm>
            <a:off x="1324213" y="3037403"/>
            <a:ext cx="2604730" cy="325636"/>
          </a:xfrm>
          <a:prstGeom prst="rect">
            <a:avLst/>
          </a:prstGeom>
          <a:noFill/>
          <a:ln/>
        </p:spPr>
        <p:txBody>
          <a:bodyPr wrap="none" lIns="0" tIns="0" rIns="0" bIns="0" rtlCol="0" anchor="t"/>
          <a:lstStyle/>
          <a:p>
            <a:pPr marL="0" indent="0" algn="l">
              <a:lnSpc>
                <a:spcPts val="2550"/>
              </a:lnSpc>
              <a:buNone/>
            </a:pPr>
            <a:r>
              <a:rPr lang="en-US" sz="2050" b="1" dirty="0">
                <a:solidFill>
                  <a:srgbClr val="FFFFFF"/>
                </a:solidFill>
                <a:latin typeface="Times New Roman" panose="02020603050405020304" pitchFamily="18" charset="0"/>
                <a:ea typeface="Inter Bold" pitchFamily="34" charset="-122"/>
                <a:cs typeface="Times New Roman" panose="02020603050405020304" pitchFamily="18" charset="0"/>
              </a:rPr>
              <a:t>Value Proposition</a:t>
            </a:r>
            <a:endParaRPr lang="en-US" sz="2050" dirty="0">
              <a:latin typeface="Times New Roman" panose="02020603050405020304" pitchFamily="18" charset="0"/>
              <a:cs typeface="Times New Roman" panose="02020603050405020304" pitchFamily="18" charset="0"/>
            </a:endParaRPr>
          </a:p>
        </p:txBody>
      </p:sp>
      <p:sp>
        <p:nvSpPr>
          <p:cNvPr id="4" name="Text 2"/>
          <p:cNvSpPr/>
          <p:nvPr/>
        </p:nvSpPr>
        <p:spPr>
          <a:xfrm>
            <a:off x="1324213" y="3495913"/>
            <a:ext cx="3918228" cy="2451497"/>
          </a:xfrm>
          <a:prstGeom prst="rect">
            <a:avLst/>
          </a:prstGeom>
          <a:noFill/>
          <a:ln/>
        </p:spPr>
        <p:txBody>
          <a:bodyPr wrap="square" lIns="0" tIns="0" rIns="0" bIns="0" rtlCol="0" anchor="t"/>
          <a:lstStyle/>
          <a:p>
            <a:pPr marL="0" indent="0" algn="l">
              <a:lnSpc>
                <a:spcPts val="1900"/>
              </a:lnSpc>
              <a:buNone/>
            </a:pPr>
            <a:r>
              <a:rPr lang="en-US" sz="1350" dirty="0">
                <a:solidFill>
                  <a:srgbClr val="E5E0DF"/>
                </a:solidFill>
                <a:latin typeface="Times New Roman" panose="02020603050405020304" pitchFamily="18" charset="0"/>
                <a:ea typeface="Inter" pitchFamily="34" charset="-122"/>
                <a:cs typeface="Times New Roman" panose="02020603050405020304" pitchFamily="18" charset="0"/>
              </a:rPr>
              <a:t>Our Intelligent Support Ticket System fundamentally shifts the agent workflow from </a:t>
            </a:r>
            <a:r>
              <a:rPr lang="en-US" sz="1350" b="1" dirty="0">
                <a:solidFill>
                  <a:srgbClr val="E5E0DF"/>
                </a:solidFill>
                <a:latin typeface="Times New Roman" panose="02020603050405020304" pitchFamily="18" charset="0"/>
                <a:ea typeface="Inter" pitchFamily="34" charset="-122"/>
                <a:cs typeface="Times New Roman" panose="02020603050405020304" pitchFamily="18" charset="0"/>
              </a:rPr>
              <a:t>"read-and-sort"</a:t>
            </a:r>
            <a:r>
              <a:rPr lang="en-US" sz="1350" dirty="0">
                <a:solidFill>
                  <a:srgbClr val="E5E0DF"/>
                </a:solidFill>
                <a:latin typeface="Times New Roman" panose="02020603050405020304" pitchFamily="18" charset="0"/>
                <a:ea typeface="Inter" pitchFamily="34" charset="-122"/>
                <a:cs typeface="Times New Roman" panose="02020603050405020304" pitchFamily="18" charset="0"/>
              </a:rPr>
              <a:t> to </a:t>
            </a:r>
            <a:r>
              <a:rPr lang="en-US" sz="1350" b="1" dirty="0">
                <a:solidFill>
                  <a:srgbClr val="E5E0DF"/>
                </a:solidFill>
                <a:latin typeface="Times New Roman" panose="02020603050405020304" pitchFamily="18" charset="0"/>
                <a:ea typeface="Inter" pitchFamily="34" charset="-122"/>
                <a:cs typeface="Times New Roman" panose="02020603050405020304" pitchFamily="18" charset="0"/>
              </a:rPr>
              <a:t>"view-and-solve."</a:t>
            </a:r>
            <a:r>
              <a:rPr lang="en-US" sz="1350" dirty="0">
                <a:solidFill>
                  <a:srgbClr val="E5E0DF"/>
                </a:solidFill>
                <a:latin typeface="Times New Roman" panose="02020603050405020304" pitchFamily="18" charset="0"/>
                <a:ea typeface="Inter" pitchFamily="34" charset="-122"/>
                <a:cs typeface="Times New Roman" panose="02020603050405020304" pitchFamily="18" charset="0"/>
              </a:rPr>
              <a:t> By automating the initial triage with AI-assisted classification, we significantly improve help desk efficiency, reduce response times, and allow skilled agents to focus on complex problem-solving. This translates to better service for users and higher job satisfaction for support teams.</a:t>
            </a:r>
            <a:endParaRPr lang="en-US" sz="1350" dirty="0">
              <a:latin typeface="Times New Roman" panose="02020603050405020304" pitchFamily="18" charset="0"/>
              <a:cs typeface="Times New Roman" panose="02020603050405020304" pitchFamily="18" charset="0"/>
            </a:endParaRPr>
          </a:p>
        </p:txBody>
      </p:sp>
      <p:sp>
        <p:nvSpPr>
          <p:cNvPr id="5" name="Text 3"/>
          <p:cNvSpPr/>
          <p:nvPr/>
        </p:nvSpPr>
        <p:spPr>
          <a:xfrm>
            <a:off x="5673685" y="1391126"/>
            <a:ext cx="2604730" cy="325636"/>
          </a:xfrm>
          <a:prstGeom prst="rect">
            <a:avLst/>
          </a:prstGeom>
          <a:noFill/>
          <a:ln/>
        </p:spPr>
        <p:txBody>
          <a:bodyPr wrap="none" lIns="0" tIns="0" rIns="0" bIns="0" rtlCol="0" anchor="t"/>
          <a:lstStyle/>
          <a:p>
            <a:pPr marL="0" indent="0" algn="l">
              <a:lnSpc>
                <a:spcPts val="2550"/>
              </a:lnSpc>
              <a:buNone/>
            </a:pPr>
            <a:r>
              <a:rPr lang="en-US" sz="2050" b="1" dirty="0">
                <a:solidFill>
                  <a:srgbClr val="FFFFFF"/>
                </a:solidFill>
                <a:latin typeface="Times New Roman" panose="02020603050405020304" pitchFamily="18" charset="0"/>
                <a:ea typeface="Inter Bold" pitchFamily="34" charset="-122"/>
                <a:cs typeface="Times New Roman" panose="02020603050405020304" pitchFamily="18" charset="0"/>
              </a:rPr>
              <a:t>Future Possibilities</a:t>
            </a:r>
            <a:endParaRPr lang="en-US" sz="2050" dirty="0">
              <a:latin typeface="Times New Roman" panose="02020603050405020304" pitchFamily="18" charset="0"/>
              <a:cs typeface="Times New Roman" panose="02020603050405020304" pitchFamily="18" charset="0"/>
            </a:endParaRPr>
          </a:p>
        </p:txBody>
      </p:sp>
      <p:sp>
        <p:nvSpPr>
          <p:cNvPr id="6" name="Text 4"/>
          <p:cNvSpPr/>
          <p:nvPr/>
        </p:nvSpPr>
        <p:spPr>
          <a:xfrm>
            <a:off x="5673685" y="1849636"/>
            <a:ext cx="7640003" cy="980599"/>
          </a:xfrm>
          <a:prstGeom prst="rect">
            <a:avLst/>
          </a:prstGeom>
          <a:noFill/>
          <a:ln/>
        </p:spPr>
        <p:txBody>
          <a:bodyPr wrap="square" lIns="0" tIns="0" rIns="0" bIns="0" rtlCol="0" anchor="t"/>
          <a:lstStyle/>
          <a:p>
            <a:pPr marL="0" indent="0" algn="l">
              <a:lnSpc>
                <a:spcPts val="1900"/>
              </a:lnSpc>
              <a:buNone/>
            </a:pPr>
            <a:r>
              <a:rPr lang="en-US" sz="1350" dirty="0">
                <a:solidFill>
                  <a:srgbClr val="E5E0DF"/>
                </a:solidFill>
                <a:latin typeface="Times New Roman" panose="02020603050405020304" pitchFamily="18" charset="0"/>
                <a:ea typeface="Inter" pitchFamily="34" charset="-122"/>
                <a:cs typeface="Times New Roman" panose="02020603050405020304" pitchFamily="18" charset="0"/>
              </a:rPr>
              <a:t>The collected data from the Agent Dashboard opens doors for even greater automation. In the future, we envision implementing fully automated routing of tickets directly to specific agents based on their expertise and past performance, further optimizing resource allocation and resolution speed.</a:t>
            </a:r>
            <a:endParaRPr lang="en-US" sz="1350" dirty="0">
              <a:latin typeface="Times New Roman" panose="02020603050405020304" pitchFamily="18" charset="0"/>
              <a:cs typeface="Times New Roman" panose="02020603050405020304" pitchFamily="18" charset="0"/>
            </a:endParaRPr>
          </a:p>
        </p:txBody>
      </p:sp>
      <p:pic>
        <p:nvPicPr>
          <p:cNvPr id="7" name="Image 0" descr="preencoded.png"/>
          <p:cNvPicPr>
            <a:picLocks noChangeAspect="1"/>
          </p:cNvPicPr>
          <p:nvPr/>
        </p:nvPicPr>
        <p:blipFill>
          <a:blip r:embed="rId3"/>
          <a:stretch>
            <a:fillRect/>
          </a:stretch>
        </p:blipFill>
        <p:spPr>
          <a:xfrm>
            <a:off x="5673685" y="2979777"/>
            <a:ext cx="7640003" cy="45839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1EE6F3-AF9B-C11A-7C70-FCD7EB01F798}"/>
              </a:ext>
            </a:extLst>
          </p:cNvPr>
          <p:cNvSpPr txBox="1"/>
          <p:nvPr/>
        </p:nvSpPr>
        <p:spPr>
          <a:xfrm>
            <a:off x="-2087880" y="731520"/>
            <a:ext cx="10972800" cy="1569660"/>
          </a:xfrm>
          <a:prstGeom prst="rect">
            <a:avLst/>
          </a:prstGeom>
          <a:noFill/>
        </p:spPr>
        <p:txBody>
          <a:bodyPr wrap="square" rtlCol="0">
            <a:spAutoFit/>
          </a:bodyPr>
          <a:lstStyle/>
          <a:p>
            <a:pPr algn="ctr"/>
            <a:r>
              <a:rPr lang="en-US" sz="9600" b="1" dirty="0">
                <a:solidFill>
                  <a:srgbClr val="FFFFFF"/>
                </a:solidFill>
                <a:latin typeface="Times New Roman" panose="02020603050405020304" pitchFamily="18" charset="0"/>
                <a:ea typeface="Inter Bold" pitchFamily="34" charset="-122"/>
                <a:cs typeface="Times New Roman" panose="02020603050405020304" pitchFamily="18" charset="0"/>
              </a:rPr>
              <a:t>Thank You </a:t>
            </a:r>
            <a:endParaRPr lang="en-US" sz="9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F8C099D-47D3-D6DA-9CAE-29EEBB7022BA}"/>
              </a:ext>
            </a:extLst>
          </p:cNvPr>
          <p:cNvSpPr txBox="1"/>
          <p:nvPr/>
        </p:nvSpPr>
        <p:spPr>
          <a:xfrm>
            <a:off x="259080" y="3535680"/>
            <a:ext cx="9113520" cy="1569660"/>
          </a:xfrm>
          <a:prstGeom prst="rect">
            <a:avLst/>
          </a:prstGeom>
          <a:noFill/>
        </p:spPr>
        <p:txBody>
          <a:bodyPr wrap="square" rtlCol="0">
            <a:spAutoFit/>
          </a:bodyPr>
          <a:lstStyle/>
          <a:p>
            <a:r>
              <a:rPr lang="en-US" sz="3200" b="1" dirty="0">
                <a:solidFill>
                  <a:srgbClr val="FFFFFF"/>
                </a:solidFill>
                <a:latin typeface="Times New Roman" panose="02020603050405020304" pitchFamily="18" charset="0"/>
                <a:ea typeface="Inter Bold" pitchFamily="34" charset="-122"/>
                <a:cs typeface="Times New Roman" panose="02020603050405020304" pitchFamily="18" charset="0"/>
              </a:rPr>
              <a:t>Presented By:</a:t>
            </a:r>
          </a:p>
          <a:p>
            <a:r>
              <a:rPr lang="en-US" sz="3200" b="1" dirty="0">
                <a:solidFill>
                  <a:srgbClr val="FFFFFF"/>
                </a:solidFill>
                <a:latin typeface="Times New Roman" panose="02020603050405020304" pitchFamily="18" charset="0"/>
                <a:ea typeface="Inter Bold" pitchFamily="34" charset="-122"/>
                <a:cs typeface="Times New Roman" panose="02020603050405020304" pitchFamily="18" charset="0"/>
              </a:rPr>
              <a:t>1.Aleem Ul Zaman Baba – RA2411026010520</a:t>
            </a:r>
          </a:p>
          <a:p>
            <a:r>
              <a:rPr lang="en-US" sz="3200" b="1" dirty="0">
                <a:solidFill>
                  <a:srgbClr val="FFFFFF"/>
                </a:solidFill>
                <a:latin typeface="Times New Roman" panose="02020603050405020304" pitchFamily="18" charset="0"/>
                <a:ea typeface="Inter Bold" pitchFamily="34" charset="-122"/>
                <a:cs typeface="Times New Roman" panose="02020603050405020304" pitchFamily="18" charset="0"/>
              </a:rPr>
              <a:t>2.Tawheed Sajad Bazaz –RA2411026010527 </a:t>
            </a:r>
            <a:endParaRPr lang="en-US" sz="32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7790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456</Words>
  <Application>Microsoft Macintosh PowerPoint</Application>
  <PresentationFormat>Custom</PresentationFormat>
  <Paragraphs>53</Paragraphs>
  <Slides>15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Inter Bold</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ALEEM BABA (RA2411026010520)</cp:lastModifiedBy>
  <cp:revision>7</cp:revision>
  <dcterms:created xsi:type="dcterms:W3CDTF">2026-02-10T15:21:14Z</dcterms:created>
  <dcterms:modified xsi:type="dcterms:W3CDTF">2026-05-05T07:15:41Z</dcterms:modified>
</cp:coreProperties>
</file>